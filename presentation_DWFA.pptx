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980000"/>
            <a:ext cx="10033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Aptos Display"/>
              </a:rPr>
              <a:t>Accès à l'eau potable dans le monde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671999"/>
            <a:ext cx="1003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Aptos Display"/>
              </a:rPr>
              <a:t>Projet DWFA  ·  Analyse exploratoire et tableau de bord interactif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5220000"/>
            <a:ext cx="10753200" cy="2160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1999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C"/>
                </a:solidFill>
                <a:latin typeface="Aptos Display"/>
              </a:rPr>
              <a:t>387 millions de personnes sans accès à l'eau basique — l'Afrique concentre l'urgence humaine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48800"/>
            <a:ext cx="6451919" cy="48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DWFA (Drinking Water For All) est une organisation internationale dédiée à l'amélioration de l'accès à l'eau potable dans les pays en développement.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400" b="1">
                <a:solidFill>
                  <a:srgbClr val="1A5276"/>
                </a:solidFill>
                <a:latin typeface="Aptos Display"/>
              </a:rPr>
              <a:t>Contexte mondial en 2017 :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• 68 % de la population mondiale a accès à l'eau basique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• Seuls 24 % bénéficient d'un accès sécurisé (qualité OMS garantie)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• L'écart entre basique et sécurisé révèle un déficit de qualité massif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• L'Afrique et l'Asie du Sud-Est concentrent la majorité des personnes non couvertes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400" b="1">
                <a:solidFill>
                  <a:srgbClr val="1A5276"/>
                </a:solidFill>
                <a:latin typeface="Aptos Display"/>
              </a:rPr>
              <a:t>Périmètre de l'étude :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• 194 pays  ·  6 régions OMS  ·  2000 à 2017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400" b="1">
                <a:solidFill>
                  <a:srgbClr val="1A5276"/>
                </a:solidFill>
                <a:latin typeface="Aptos Display"/>
              </a:rPr>
              <a:t>Objectif DWFA :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Identifier les pays prioritaires pour une intervention adaptée :</a:t>
            </a:r>
          </a:p>
          <a:p>
            <a:pPr algn="l"/>
            <a:r>
              <a:rPr sz="1400" b="0">
                <a:solidFill>
                  <a:srgbClr val="1C1C1C"/>
                </a:solidFill>
                <a:latin typeface="Aptos Display"/>
              </a:rPr>
              <a:t>D1 Construction   ·   D2 Modernisation   ·   D3 Conseil gouvernemental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919" y="1648800"/>
            <a:ext cx="3653279" cy="153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9919" y="1832688"/>
            <a:ext cx="3365279" cy="68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0392B"/>
                </a:solidFill>
                <a:latin typeface="Aptos Display"/>
              </a:rPr>
              <a:t>387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9919" y="2537592"/>
            <a:ext cx="3365279" cy="536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Population sans accès à l'eau basique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919" y="3307200"/>
            <a:ext cx="3653279" cy="153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9919" y="3491088"/>
            <a:ext cx="3365279" cy="68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86C1"/>
                </a:solidFill>
                <a:latin typeface="Aptos Display"/>
              </a:rPr>
              <a:t>68 %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9919" y="4195992"/>
            <a:ext cx="3365279" cy="536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Taux d'accès basique mondial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919" y="4965600"/>
            <a:ext cx="3653279" cy="153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9919" y="5149488"/>
            <a:ext cx="3365279" cy="68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0392B"/>
                </a:solidFill>
                <a:latin typeface="Aptos Display"/>
              </a:rPr>
              <a:t>464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9919" y="5854392"/>
            <a:ext cx="3365279" cy="536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Décès liés au WASH (2016)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1999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C"/>
                </a:solidFill>
                <a:latin typeface="Aptos Display"/>
              </a:rPr>
              <a:t>5 sources OMS / Banque Mondiale, 194 pays sur 18 ans — périmètre mondial validé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648800"/>
            <a:ext cx="2064240" cy="40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648800"/>
            <a:ext cx="206424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" y="1774800"/>
            <a:ext cx="1812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Accès à l'eau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" y="2404800"/>
            <a:ext cx="1812240" cy="32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276"/>
                </a:solidFill>
                <a:latin typeface="Aptos Display"/>
              </a:rPr>
              <a:t>BasicAndSafelyManaged</a:t>
            </a:r>
          </a:p>
          <a:p>
            <a:pPr algn="l"/>
            <a:r>
              <a:rPr sz="1300" b="1">
                <a:solidFill>
                  <a:srgbClr val="1A5276"/>
                </a:solidFill>
                <a:latin typeface="Aptos Display"/>
              </a:rPr>
              <a:t>DrinkingWaterServices.csv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% accès basique &amp; sécurisé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Granularités : Total / Urban / Rural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Période : 2000–2017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2239" y="1648800"/>
            <a:ext cx="2064240" cy="40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2239" y="1648800"/>
            <a:ext cx="206424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8239" y="1774800"/>
            <a:ext cx="1812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Mortalité WASH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8239" y="2404800"/>
            <a:ext cx="1812240" cy="32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276"/>
                </a:solidFill>
                <a:latin typeface="Aptos Display"/>
              </a:rPr>
              <a:t>MortalityRateAttributed</a:t>
            </a:r>
          </a:p>
          <a:p>
            <a:pPr algn="l"/>
            <a:r>
              <a:rPr sz="1300" b="1">
                <a:solidFill>
                  <a:srgbClr val="1A5276"/>
                </a:solidFill>
                <a:latin typeface="Aptos Display"/>
              </a:rPr>
              <a:t>ToWater.csv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Taux de mortalité WASH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Année disponible : 2016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183 pays couverts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4480" y="1648800"/>
            <a:ext cx="2064240" cy="40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64480" y="1648800"/>
            <a:ext cx="206424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0480" y="1774800"/>
            <a:ext cx="1812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0480" y="2404800"/>
            <a:ext cx="1812240" cy="32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276"/>
                </a:solidFill>
                <a:latin typeface="Aptos Display"/>
              </a:rPr>
              <a:t>Population.csv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Pop. totale, urbaine, rurale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Période : 2000–2017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194 pays — source ONU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6720" y="1648800"/>
            <a:ext cx="2064240" cy="40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6720" y="1648800"/>
            <a:ext cx="206424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2720" y="1774800"/>
            <a:ext cx="1812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Stabilité politique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2720" y="2404800"/>
            <a:ext cx="1812240" cy="32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276"/>
                </a:solidFill>
                <a:latin typeface="Aptos Display"/>
              </a:rPr>
              <a:t>PoliticalStability.csv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Score WGI stabilité politique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Échelle : −2,5 à +2,5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Période : 2000–2017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08960" y="1648800"/>
            <a:ext cx="2064240" cy="40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08960" y="1648800"/>
            <a:ext cx="206424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4960" y="1774800"/>
            <a:ext cx="1812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Régions 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4960" y="2404800"/>
            <a:ext cx="1812240" cy="326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276"/>
                </a:solidFill>
                <a:latin typeface="Aptos Display"/>
              </a:rPr>
              <a:t>RegionCountry.csv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Correspondance pays → région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6 régions OMS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194 pays — couverture 100 %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868000"/>
            <a:ext cx="35004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000" y="5937120"/>
            <a:ext cx="3212399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276"/>
                </a:solidFill>
                <a:latin typeface="Aptos Display"/>
              </a:rPr>
              <a:t>194 pays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000" y="6202080"/>
            <a:ext cx="3212399" cy="20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couverture mondiale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6400" y="5868000"/>
            <a:ext cx="35004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0400" y="5937120"/>
            <a:ext cx="3212399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276"/>
                </a:solidFill>
                <a:latin typeface="Aptos Display"/>
              </a:rPr>
              <a:t>18 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0400" y="6202080"/>
            <a:ext cx="3212399" cy="20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2000 – 2017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2799" y="5868000"/>
            <a:ext cx="35004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6799" y="5937120"/>
            <a:ext cx="3212399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276"/>
                </a:solidFill>
                <a:latin typeface="Aptos Display"/>
              </a:rPr>
              <a:t>6 régions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6799" y="6202080"/>
            <a:ext cx="3212399" cy="20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OMS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1999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C"/>
                </a:solidFill>
                <a:latin typeface="Aptos Display"/>
              </a:rPr>
              <a:t>4 étapes de consolidation produisent 2 tables analytiques — zéro doublon, validation automatique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648800"/>
            <a:ext cx="6451919" cy="1000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6000" y="1969200"/>
            <a:ext cx="360000" cy="360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2000" y="1720800"/>
            <a:ext cx="5713919" cy="42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Aptos Display"/>
              </a:rPr>
              <a:t>Renommage &amp;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2000" y="2089152"/>
            <a:ext cx="5713919" cy="5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ptos Display"/>
              </a:rPr>
              <a:t>Colonnes standardisées en français · types numériques validés · pourcentages plafonnés à 100 (erreurs d'arrondi OMS)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775600"/>
            <a:ext cx="6451919" cy="1000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6000" y="3096000"/>
            <a:ext cx="360000" cy="360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2000" y="2847600"/>
            <a:ext cx="5713919" cy="42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Aptos Display"/>
              </a:rPr>
              <a:t>Filtrage granularité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2000" y="3215952"/>
            <a:ext cx="5713919" cy="5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ptos Display"/>
              </a:rPr>
              <a:t>Extraction granularité «Total» pour les jointures principales · «Urban / Rural» conservés séparément pour les charts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902400"/>
            <a:ext cx="6451919" cy="1000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6000" y="4222800"/>
            <a:ext cx="360000" cy="360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000" y="3974399"/>
            <a:ext cx="5713919" cy="42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Aptos Display"/>
              </a:rPr>
              <a:t>Indicateurs dérivés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2000" y="4342752"/>
            <a:ext cx="5713919" cy="5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ptos Display"/>
              </a:rPr>
              <a:t>Population en personnes (× 1 000) · pct_pop_rurale · nb_deces_wash = taux_mortalite × pop / 100 000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5029200"/>
            <a:ext cx="6451919" cy="1000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6000" y="5349600"/>
            <a:ext cx="360000" cy="360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2000" y="5101200"/>
            <a:ext cx="5713919" cy="42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Aptos Display"/>
              </a:rPr>
              <a:t>Jointure &amp;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000" y="5469552"/>
            <a:ext cx="5713919" cy="5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ptos Display"/>
              </a:rPr>
              <a:t>5 sources consolidées en 1 table · tests assert automatiques · 2 CSV exportés : dwfa_consolide.csv + dwfa_eau_granulaire.csv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919" y="1648800"/>
            <a:ext cx="3653279" cy="137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9919" y="1813968"/>
            <a:ext cx="3365279" cy="619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86C1"/>
                </a:solidFill>
                <a:latin typeface="Aptos Display"/>
              </a:rPr>
              <a:t>3 492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9919" y="2447112"/>
            <a:ext cx="3365279" cy="48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Lignes — dwfa_consolide.csv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919" y="3151200"/>
            <a:ext cx="3653279" cy="137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9919" y="3316368"/>
            <a:ext cx="3365279" cy="619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86C1"/>
                </a:solidFill>
                <a:latin typeface="Aptos Display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9919" y="3949512"/>
            <a:ext cx="3365279" cy="48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Colonnes analytiques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919" y="4653600"/>
            <a:ext cx="3653279" cy="137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9919" y="4818768"/>
            <a:ext cx="3365279" cy="619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8A44"/>
                </a:solidFill>
                <a:latin typeface="Aptos Display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9919" y="5451912"/>
            <a:ext cx="3365279" cy="48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Aptos Display"/>
              </a:rPr>
              <a:t>Doublon — validation réussie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6246000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ptos Display"/>
              </a:rPr>
              <a:t>Valeurs manquantes documentées : 50 % pour l'accès sécurisé (non collecté par l'OMS) · 94,8 % pour la mortalité (une seule année disponible : 2016)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1999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C"/>
                </a:solidFill>
                <a:latin typeface="Aptos Display"/>
              </a:rPr>
              <a:t>Tableau Public choisi pour son interactivité et sa publication sans infrastructure — adapté aux besoins DWFA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648800"/>
            <a:ext cx="2607300" cy="484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648800"/>
            <a:ext cx="260730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" y="1774800"/>
            <a:ext cx="2355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Interactivité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" y="2404800"/>
            <a:ext cx="2355300" cy="402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Filtres dynamiques par région et par pays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Actions de navigation entre les 3 vues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Paramètres ajustables en temps réel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Highlight et sélection inter-graphiques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5300" y="1648800"/>
            <a:ext cx="2607300" cy="484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5300" y="1648800"/>
            <a:ext cx="260730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1300" y="1774800"/>
            <a:ext cx="2355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Publication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1300" y="2404800"/>
            <a:ext cx="2355300" cy="402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Gratuit — hébergé sur tableau.com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Lien partageable sans serveur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Aucune infrastructure requise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Mise à jour des données simplifiée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0600" y="1648800"/>
            <a:ext cx="2607300" cy="484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0600" y="1648800"/>
            <a:ext cx="260730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6600" y="1774800"/>
            <a:ext cx="2355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Multi-vues connectées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6600" y="2404800"/>
            <a:ext cx="2355300" cy="402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3 dashboards interconnectés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Navigation clic → zoom sur un pays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Contexte régional conservé entre vues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Paramètre pays partagé entre les vues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5900" y="1648800"/>
            <a:ext cx="2607300" cy="484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5900" y="1648800"/>
            <a:ext cx="260730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1900" y="1774800"/>
            <a:ext cx="2355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Accessibilité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900" y="2404800"/>
            <a:ext cx="2355300" cy="402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Aucune installation côté lecteur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Consultation via navigateur standard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Compatible mobile et desktop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Exportable en PDF ou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51999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C"/>
                </a:solidFill>
                <a:latin typeface="Aptos Display"/>
              </a:rPr>
              <a:t>3 vues imbriquées pour répondre à une seule question : quel pays prioriser pour l'intervention DWFA ?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648800"/>
            <a:ext cx="3500400" cy="484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648800"/>
            <a:ext cx="350040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" y="1774800"/>
            <a:ext cx="3248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Vue MONDIALE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" y="2404800"/>
            <a:ext cx="3248400" cy="402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Aptos Display"/>
              </a:rPr>
              <a:t>Question : Quelle est l'ampleur du problème ?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KPIs : pop. sans accès · accès basique · sécurisé · décès · stabilité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1">
                <a:solidFill>
                  <a:srgbClr val="1C1C1C"/>
                </a:solidFill>
                <a:latin typeface="Aptos Display"/>
              </a:rPr>
              <a:t>Graphiques :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Map mondiale taux de mortalité WASH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Bar instabilité politique par région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Line chart évolution accès 2000–2017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Bar décès WASH par région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6400" y="1648800"/>
            <a:ext cx="3500400" cy="484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6400" y="1648800"/>
            <a:ext cx="350040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2399" y="1774800"/>
            <a:ext cx="3248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Vue CONTINENTALE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2399" y="2404800"/>
            <a:ext cx="3248400" cy="402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Aptos Display"/>
              </a:rPr>
              <a:t>Question : Quels pays prioriser dans la région ?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KPIs filtrés par région sélectionnée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1">
                <a:solidFill>
                  <a:srgbClr val="1C1C1C"/>
                </a:solidFill>
                <a:latin typeface="Aptos Display"/>
              </a:rPr>
              <a:t>Graphiques :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Scatter mortalité vs accès (urgence humaine)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Scatter D3 : stabilité vs accès sécurisé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Bar classement pays par accès basique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Line chart évolution par pays dans la région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2799" y="1648800"/>
            <a:ext cx="3500400" cy="484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2799" y="1648800"/>
            <a:ext cx="3500400" cy="64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8800" y="1774800"/>
            <a:ext cx="3248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Vue PAYS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8800" y="2404800"/>
            <a:ext cx="3248400" cy="402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Aptos Display"/>
              </a:rPr>
              <a:t>Question : Comment intervenir ?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KPIs filtrés par pays sélectionné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/>
            <a:r>
              <a:rPr sz="1300" b="1">
                <a:solidFill>
                  <a:srgbClr val="1C1C1C"/>
                </a:solidFill>
                <a:latin typeface="Aptos Display"/>
              </a:rPr>
              <a:t>Graphiques :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Scatter D1 : urbanisation vs accès basique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Scatter D2 : accès basique vs accès sécurisé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Area chart évolution accès 2000–2017</a:t>
            </a:r>
          </a:p>
          <a:p>
            <a:pPr algn="l"/>
            <a:r>
              <a:rPr sz="1300" b="0">
                <a:solidFill>
                  <a:srgbClr val="1C1C1C"/>
                </a:solidFill>
                <a:latin typeface="Aptos Display"/>
              </a:rPr>
              <a:t>• Panel diagnostic D1 / D2 / 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