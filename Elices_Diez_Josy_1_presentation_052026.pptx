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607" y="1982708"/>
            <a:ext cx="10033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 dirty="0">
                <a:solidFill>
                  <a:srgbClr val="FFFFFF"/>
                </a:solidFill>
                <a:latin typeface="Aptos Display"/>
              </a:rPr>
              <a:t>Etude sur </a:t>
            </a:r>
            <a:r>
              <a:rPr sz="5000" b="1" dirty="0" err="1">
                <a:solidFill>
                  <a:srgbClr val="FFFFFF"/>
                </a:solidFill>
                <a:latin typeface="Aptos Display"/>
              </a:rPr>
              <a:t>l'eau</a:t>
            </a:r>
            <a:r>
              <a:rPr sz="5000" b="1" dirty="0">
                <a:solidFill>
                  <a:srgbClr val="FFFFFF"/>
                </a:solidFill>
                <a:latin typeface="Aptos Display"/>
              </a:rPr>
              <a:t> potable dans le monde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607" y="4563947"/>
            <a:ext cx="10753200" cy="21600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89D51D1-A1C2-09E6-0C41-98C7BE286A83}"/>
              </a:ext>
            </a:extLst>
          </p:cNvPr>
          <p:cNvSpPr txBox="1"/>
          <p:nvPr/>
        </p:nvSpPr>
        <p:spPr>
          <a:xfrm>
            <a:off x="337355" y="5515150"/>
            <a:ext cx="11518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>
                <a:solidFill>
                  <a:schemeClr val="bg1"/>
                </a:solidFill>
                <a:latin typeface="Aptos Display"/>
              </a:rPr>
              <a:t>DWFA — </a:t>
            </a:r>
            <a:r>
              <a:rPr lang="fr-FR" sz="2800" i="1" dirty="0" err="1">
                <a:solidFill>
                  <a:schemeClr val="bg1"/>
                </a:solidFill>
                <a:latin typeface="Aptos Display"/>
              </a:rPr>
              <a:t>Drinking</a:t>
            </a:r>
            <a:r>
              <a:rPr lang="fr-FR" sz="2800" i="1" dirty="0">
                <a:solidFill>
                  <a:schemeClr val="bg1"/>
                </a:solidFill>
                <a:latin typeface="Aptos Display"/>
              </a:rPr>
              <a:t> Water For All</a:t>
            </a:r>
            <a:endParaRPr lang="fr-FR" sz="28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5998" y="251999"/>
            <a:ext cx="1075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1C1C1C"/>
                </a:solidFill>
                <a:latin typeface="Aptos Display"/>
              </a:rPr>
              <a:t>Objectif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864000" y="1629174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6000" y="947364"/>
            <a:ext cx="1075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fr-FR" sz="2000" b="1" dirty="0">
                <a:solidFill>
                  <a:srgbClr val="1C1C1C"/>
                </a:solidFill>
                <a:latin typeface="Aptos Display"/>
              </a:rPr>
              <a:t>I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dentifier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le pays le plus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en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difficulté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dans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chaque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domaine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,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afin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d'orienter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2000" b="1" dirty="0" err="1">
                <a:solidFill>
                  <a:srgbClr val="1C1C1C"/>
                </a:solidFill>
                <a:latin typeface="Aptos Display"/>
              </a:rPr>
              <a:t>l'intervention</a:t>
            </a:r>
            <a:r>
              <a:rPr sz="2000" b="1" dirty="0">
                <a:solidFill>
                  <a:srgbClr val="1C1C1C"/>
                </a:solidFill>
                <a:latin typeface="Aptos Display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620800"/>
            <a:ext cx="3488400" cy="297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0000" y="2620800"/>
            <a:ext cx="3488400" cy="90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4000" y="2782800"/>
            <a:ext cx="32003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D1 —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3664800"/>
            <a:ext cx="320039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C1C1C"/>
                </a:solidFill>
                <a:latin typeface="Aptos Display"/>
              </a:rPr>
              <a:t>Pas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d'infrastructure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de base</a:t>
            </a: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Besoin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créer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le réseau</a:t>
            </a: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Critère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population non couverte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400" y="2620800"/>
            <a:ext cx="3488400" cy="297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2400" y="2620800"/>
            <a:ext cx="3488400" cy="90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6400" y="2782800"/>
            <a:ext cx="32003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D2 — Modernisation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6400" y="3664800"/>
            <a:ext cx="320039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C1C1C"/>
                </a:solidFill>
                <a:latin typeface="Aptos Display"/>
              </a:rPr>
              <a:t>Infrastructure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partielle</a:t>
            </a:r>
            <a:endParaRPr sz="16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Besoin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étendre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et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sécuriser</a:t>
            </a:r>
            <a:endParaRPr sz="16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Critère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écart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basique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/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sécurisé</a:t>
            </a:r>
            <a:endParaRPr sz="1600" b="0" dirty="0">
              <a:solidFill>
                <a:srgbClr val="1C1C1C"/>
              </a:solidFill>
              <a:latin typeface="Aptos Display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84800" y="2620800"/>
            <a:ext cx="3488400" cy="297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84800" y="2620800"/>
            <a:ext cx="3488400" cy="90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28799" y="2782800"/>
            <a:ext cx="32003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D3 — Conseil gouvernemental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799" y="3664800"/>
            <a:ext cx="3200399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Instabilité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politique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élevée</a:t>
            </a:r>
            <a:endParaRPr sz="16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Besoin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accompagnement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politique</a:t>
            </a:r>
          </a:p>
          <a:p>
            <a:pPr algn="l">
              <a:spcAft>
                <a:spcPts val="600"/>
              </a:spcAft>
            </a:pPr>
            <a:r>
              <a:rPr sz="1600" b="0" dirty="0" err="1">
                <a:solidFill>
                  <a:srgbClr val="1C1C1C"/>
                </a:solidFill>
                <a:latin typeface="Aptos Display"/>
              </a:rPr>
              <a:t>Critère</a:t>
            </a:r>
            <a:r>
              <a:rPr sz="1600" b="0" dirty="0">
                <a:solidFill>
                  <a:srgbClr val="1C1C1C"/>
                </a:solidFill>
                <a:latin typeface="Aptos Display"/>
              </a:rPr>
              <a:t> : score WGI </a:t>
            </a:r>
            <a:r>
              <a:rPr sz="1600" b="0" dirty="0" err="1">
                <a:solidFill>
                  <a:srgbClr val="1C1C1C"/>
                </a:solidFill>
                <a:latin typeface="Aptos Display"/>
              </a:rPr>
              <a:t>stabilité</a:t>
            </a:r>
            <a:endParaRPr sz="1600" b="0" dirty="0">
              <a:solidFill>
                <a:srgbClr val="1C1C1C"/>
              </a:solidFill>
              <a:latin typeface="Aptos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251999"/>
            <a:ext cx="1075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C"/>
                </a:solidFill>
                <a:latin typeface="Aptos Display"/>
              </a:rPr>
              <a:t>Outils &amp; Ressources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1040039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24312" y="1970208"/>
            <a:ext cx="5135534" cy="414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dirty="0">
                <a:solidFill>
                  <a:srgbClr val="1A5276"/>
                </a:solidFill>
                <a:latin typeface="Aptos Display"/>
              </a:rPr>
              <a:t>Environnement </a:t>
            </a:r>
            <a:r>
              <a:rPr sz="1800" b="1" dirty="0" err="1">
                <a:solidFill>
                  <a:srgbClr val="1A5276"/>
                </a:solidFill>
                <a:latin typeface="Aptos Display"/>
              </a:rPr>
              <a:t>d'analyse</a:t>
            </a:r>
            <a:endParaRPr sz="1800" b="1" dirty="0">
              <a:solidFill>
                <a:srgbClr val="1A5276"/>
              </a:solidFill>
              <a:latin typeface="Aptos Display"/>
            </a:endParaRPr>
          </a:p>
          <a:p>
            <a:pPr algn="l"/>
            <a:endParaRPr sz="1800" b="1" dirty="0">
              <a:solidFill>
                <a:srgbClr val="1A5276"/>
              </a:solidFill>
              <a:latin typeface="Aptos Display"/>
            </a:endParaRPr>
          </a:p>
          <a:p>
            <a:pPr algn="l">
              <a:spcAft>
                <a:spcPts val="5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Python 3.12 — pandas,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numpy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, python-pptx</a:t>
            </a:r>
          </a:p>
          <a:p>
            <a:pPr algn="l">
              <a:spcAft>
                <a:spcPts val="5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Jupyter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Notebook — exploration interactive</a:t>
            </a:r>
          </a:p>
          <a:p>
            <a:pPr algn="l">
              <a:spcAft>
                <a:spcPts val="5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uv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— gestion des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dépendances</a:t>
            </a:r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/>
            <a:endParaRPr lang="fr-FR" sz="1800" b="0" dirty="0">
              <a:solidFill>
                <a:srgbClr val="1C1C1C"/>
              </a:solidFill>
              <a:latin typeface="Aptos Display"/>
            </a:endParaRPr>
          </a:p>
          <a:p>
            <a:pPr algn="l"/>
            <a:endParaRPr lang="fr-FR" dirty="0">
              <a:solidFill>
                <a:srgbClr val="1C1C1C"/>
              </a:solidFill>
              <a:latin typeface="Aptos Display"/>
            </a:endParaRPr>
          </a:p>
          <a:p>
            <a:pPr algn="l"/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500"/>
              </a:spcAft>
            </a:pPr>
            <a:r>
              <a:rPr sz="1800" b="1" dirty="0" err="1">
                <a:solidFill>
                  <a:srgbClr val="1A5276"/>
                </a:solidFill>
                <a:latin typeface="Aptos Display"/>
              </a:rPr>
              <a:t>Visualisation</a:t>
            </a:r>
            <a:r>
              <a:rPr sz="1800" b="1" dirty="0">
                <a:solidFill>
                  <a:srgbClr val="1A5276"/>
                </a:solidFill>
                <a:latin typeface="Aptos Display"/>
              </a:rPr>
              <a:t> &amp; Dashboard</a:t>
            </a:r>
          </a:p>
          <a:p>
            <a:pPr algn="l"/>
            <a:endParaRPr sz="1800" b="1" dirty="0">
              <a:solidFill>
                <a:srgbClr val="1A5276"/>
              </a:solidFill>
              <a:latin typeface="Aptos Display"/>
            </a:endParaRPr>
          </a:p>
          <a:p>
            <a:pPr algn="l">
              <a:spcAft>
                <a:spcPts val="5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Tableau Public — dashboards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interactifs</a:t>
            </a:r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5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Publication sans infrastructure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serveur</a:t>
            </a:r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/>
            <a:endParaRPr sz="1800" b="0" dirty="0">
              <a:solidFill>
                <a:srgbClr val="1C1C1C"/>
              </a:solidFill>
              <a:latin typeface="Aptos Display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5303" y="1712553"/>
            <a:ext cx="3653279" cy="14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9303" y="1852593"/>
            <a:ext cx="3365279" cy="7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9303" y="2580801"/>
            <a:ext cx="33652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888888"/>
                </a:solidFill>
                <a:latin typeface="Aptos Display"/>
              </a:rPr>
              <a:t>Fichiers</a:t>
            </a:r>
            <a:r>
              <a:rPr sz="1400" b="0" dirty="0">
                <a:solidFill>
                  <a:srgbClr val="888888"/>
                </a:solidFill>
                <a:latin typeface="Aptos Display"/>
              </a:rPr>
              <a:t> sources OMS </a:t>
            </a:r>
          </a:p>
        </p:txBody>
      </p:sp>
      <p:sp>
        <p:nvSpPr>
          <p:cNvPr id="8" name="Rectangle 7"/>
          <p:cNvSpPr/>
          <p:nvPr/>
        </p:nvSpPr>
        <p:spPr>
          <a:xfrm>
            <a:off x="995303" y="3256953"/>
            <a:ext cx="3653279" cy="14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9303" y="3396993"/>
            <a:ext cx="3365279" cy="7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9303" y="4125201"/>
            <a:ext cx="3365279" cy="46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Pays couverts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5303" y="4801353"/>
            <a:ext cx="3653279" cy="14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9303" y="4941393"/>
            <a:ext cx="3365279" cy="7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E86C1"/>
                </a:solidFill>
                <a:latin typeface="Aptos Display"/>
              </a:rPr>
              <a:t>18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9303" y="5669601"/>
            <a:ext cx="3365279" cy="46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Période 2000–2017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251999"/>
            <a:ext cx="1075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dirty="0">
                <a:solidFill>
                  <a:srgbClr val="1C1C1C"/>
                </a:solidFill>
                <a:latin typeface="Aptos Display"/>
              </a:rPr>
              <a:t>4 é</a:t>
            </a:r>
            <a:r>
              <a:rPr sz="3600" b="1" dirty="0">
                <a:solidFill>
                  <a:srgbClr val="1C1C1C"/>
                </a:solidFill>
                <a:latin typeface="Aptos Display"/>
              </a:rPr>
              <a:t>tapes du </a:t>
            </a:r>
            <a:r>
              <a:rPr sz="3600" b="1" dirty="0" err="1">
                <a:solidFill>
                  <a:srgbClr val="1C1C1C"/>
                </a:solidFill>
                <a:latin typeface="Aptos Display"/>
              </a:rPr>
              <a:t>projet</a:t>
            </a:r>
            <a:endParaRPr sz="3600" b="1" dirty="0">
              <a:solidFill>
                <a:srgbClr val="1C1C1C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0000" y="1440000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98522" y="1929908"/>
            <a:ext cx="1877039" cy="448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03041" y="2091908"/>
            <a:ext cx="468000" cy="468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6521" y="2685908"/>
            <a:ext cx="1661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1A5276"/>
                </a:solidFill>
                <a:latin typeface="Aptos Display"/>
              </a:rPr>
              <a:t>Nettoyage</a:t>
            </a:r>
            <a:r>
              <a:rPr lang="fr-FR" sz="1600" b="1" dirty="0">
                <a:solidFill>
                  <a:srgbClr val="1A5276"/>
                </a:solidFill>
                <a:latin typeface="Aptos Display"/>
              </a:rPr>
              <a:t> des données</a:t>
            </a:r>
            <a:endParaRPr sz="1600" b="1" dirty="0">
              <a:solidFill>
                <a:srgbClr val="1A5276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06521" y="3657907"/>
            <a:ext cx="1661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888888"/>
                </a:solidFill>
                <a:latin typeface="Aptos Display"/>
              </a:rPr>
              <a:t>Exploration</a:t>
            </a:r>
            <a:r>
              <a:rPr lang="fr-FR" sz="1400" dirty="0">
                <a:solidFill>
                  <a:srgbClr val="888888"/>
                </a:solidFill>
                <a:latin typeface="Aptos Display"/>
              </a:rPr>
              <a:t> : t</a:t>
            </a:r>
            <a:r>
              <a:rPr sz="1400" b="0" dirty="0" err="1">
                <a:solidFill>
                  <a:srgbClr val="888888"/>
                </a:solidFill>
                <a:latin typeface="Aptos Display"/>
              </a:rPr>
              <a:t>ype</a:t>
            </a:r>
            <a:r>
              <a:rPr lang="fr-FR" sz="1400" dirty="0">
                <a:solidFill>
                  <a:srgbClr val="888888"/>
                </a:solidFill>
                <a:latin typeface="Aptos Display"/>
              </a:rPr>
              <a:t>s, d</a:t>
            </a:r>
            <a:r>
              <a:rPr sz="1400" b="0" dirty="0" err="1">
                <a:solidFill>
                  <a:srgbClr val="888888"/>
                </a:solidFill>
                <a:latin typeface="Aptos Display"/>
              </a:rPr>
              <a:t>oublon</a:t>
            </a:r>
            <a:r>
              <a:rPr lang="fr-FR" sz="1400" b="0" dirty="0">
                <a:solidFill>
                  <a:srgbClr val="888888"/>
                </a:solidFill>
                <a:latin typeface="Aptos Display"/>
              </a:rPr>
              <a:t>s, j</a:t>
            </a:r>
            <a:r>
              <a:rPr sz="1400" b="0" dirty="0" err="1">
                <a:solidFill>
                  <a:srgbClr val="888888"/>
                </a:solidFill>
                <a:latin typeface="Aptos Display"/>
              </a:rPr>
              <a:t>ointures</a:t>
            </a:r>
            <a:endParaRPr sz="1400" b="0" dirty="0">
              <a:solidFill>
                <a:srgbClr val="888888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09561" y="3970370"/>
            <a:ext cx="23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9562" y="1936527"/>
            <a:ext cx="1877039" cy="448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64081" y="2098527"/>
            <a:ext cx="468000" cy="468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7562" y="2692527"/>
            <a:ext cx="166104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A5276"/>
                </a:solidFill>
                <a:latin typeface="Aptos Display"/>
              </a:rPr>
              <a:t>Blueprint
&amp; Mock-Up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7562" y="3664526"/>
            <a:ext cx="1661040" cy="26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Conception des dashboards : structure, vues, indicateurs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279" y="4001127"/>
            <a:ext cx="23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20601" y="1936527"/>
            <a:ext cx="1877039" cy="448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25121" y="2098527"/>
            <a:ext cx="468000" cy="468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Aptos Display"/>
              </a:rPr>
              <a:t>3</a:t>
            </a:r>
            <a:endParaRPr sz="1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28601" y="2692527"/>
            <a:ext cx="166104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276"/>
                </a:solidFill>
                <a:latin typeface="Aptos Display"/>
              </a:rPr>
              <a:t>Construction
vues globales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601" y="3664526"/>
            <a:ext cx="1661040" cy="26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Dashboards Mondiale, Continentale, Nationale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2901" y="3977804"/>
            <a:ext cx="23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1640" y="1926812"/>
            <a:ext cx="1877039" cy="44892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86160" y="2088812"/>
            <a:ext cx="468000" cy="468000"/>
          </a:xfrm>
          <a:prstGeom prst="ellipse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FFFF"/>
                </a:solidFill>
                <a:latin typeface="Aptos Display"/>
              </a:rPr>
              <a:t>4</a:t>
            </a:r>
            <a:endParaRPr sz="18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9640" y="2682812"/>
            <a:ext cx="166104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276"/>
                </a:solidFill>
                <a:latin typeface="Aptos Display"/>
              </a:rPr>
              <a:t>Construction
vues spécifiques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640" y="3654811"/>
            <a:ext cx="1661040" cy="26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  <a:latin typeface="Aptos Display"/>
              </a:rPr>
              <a:t>Analyses D1, D2, D3 — sélection pays prioritaires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80000" y="2340000"/>
            <a:ext cx="100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Exploration &amp; Nettoyage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3780000"/>
            <a:ext cx="1003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5DADE8"/>
                </a:solidFill>
                <a:latin typeface="Aptos Display"/>
              </a:rPr>
              <a:t>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0000" y="251999"/>
            <a:ext cx="10753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1C1C1C"/>
                </a:solidFill>
                <a:latin typeface="Aptos Display"/>
              </a:rPr>
              <a:t>Fusion des données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690664" y="1116386"/>
            <a:ext cx="10753200" cy="288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8617" y="1695742"/>
            <a:ext cx="1932077" cy="136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4148" y="1829304"/>
            <a:ext cx="167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 Display"/>
              </a:rPr>
              <a:t>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148" y="2260684"/>
            <a:ext cx="1676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Table de base
194 pays </a:t>
            </a:r>
            <a:r>
              <a:rPr lang="fr-FR" sz="1200" b="0" dirty="0">
                <a:solidFill>
                  <a:srgbClr val="FFFFFF"/>
                </a:solidFill>
                <a:latin typeface="Aptos Display"/>
              </a:rPr>
              <a:t>· </a:t>
            </a:r>
          </a:p>
          <a:p>
            <a:pPr algn="ctr"/>
            <a:r>
              <a:rPr lang="fr-FR" sz="1200" b="0" dirty="0">
                <a:solidFill>
                  <a:srgbClr val="FFFFFF"/>
                </a:solidFill>
                <a:latin typeface="Aptos Display"/>
              </a:rPr>
              <a:t>2000–2017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698" y="2225368"/>
            <a:ext cx="319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8548" y="1695742"/>
            <a:ext cx="1932077" cy="136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6313" y="1791729"/>
            <a:ext cx="167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 Display"/>
              </a:rPr>
              <a:t>+ </a:t>
            </a:r>
            <a:r>
              <a:rPr b="1" dirty="0" err="1">
                <a:solidFill>
                  <a:srgbClr val="FFFFFF"/>
                </a:solidFill>
                <a:latin typeface="Aptos Display"/>
              </a:rPr>
              <a:t>Régions</a:t>
            </a:r>
            <a:r>
              <a:rPr b="1" dirty="0">
                <a:solidFill>
                  <a:srgbClr val="FFFFFF"/>
                </a:solidFill>
                <a:latin typeface="Aptos Display"/>
              </a:rPr>
              <a:t> 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024" y="2232157"/>
            <a:ext cx="1676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LEFT JOIN  </a:t>
            </a:r>
            <a:endParaRPr lang="fr-FR" sz="1200" b="0" dirty="0">
              <a:solidFill>
                <a:srgbClr val="FFFFFF"/>
              </a:solidFill>
              <a:latin typeface="Aptos Display"/>
            </a:endParaRPr>
          </a:p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Pays
6 </a:t>
            </a:r>
            <a:r>
              <a:rPr sz="1200" b="0" dirty="0" err="1">
                <a:solidFill>
                  <a:srgbClr val="FFFFFF"/>
                </a:solidFill>
                <a:latin typeface="Aptos Display"/>
              </a:rPr>
              <a:t>régions</a:t>
            </a:r>
            <a:r>
              <a:rPr sz="1200" b="0" dirty="0">
                <a:solidFill>
                  <a:srgbClr val="FFFFFF"/>
                </a:solidFill>
                <a:latin typeface="Aptos Display"/>
              </a:rPr>
              <a:t> · 194 pays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4845" y="2224304"/>
            <a:ext cx="319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8480" y="1692546"/>
            <a:ext cx="1932077" cy="136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69265" y="1791729"/>
            <a:ext cx="167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 Display"/>
              </a:rPr>
              <a:t>+ </a:t>
            </a:r>
            <a:r>
              <a:rPr b="1" dirty="0" err="1">
                <a:solidFill>
                  <a:srgbClr val="FFFFFF"/>
                </a:solidFill>
                <a:latin typeface="Aptos Display"/>
              </a:rPr>
              <a:t>Accès</a:t>
            </a:r>
            <a:r>
              <a:rPr b="1" dirty="0">
                <a:solidFill>
                  <a:srgbClr val="FFFFFF"/>
                </a:solidFill>
                <a:latin typeface="Aptos Display"/>
              </a:rPr>
              <a:t> à </a:t>
            </a:r>
            <a:r>
              <a:rPr b="1" dirty="0" err="1">
                <a:solidFill>
                  <a:srgbClr val="FFFFFF"/>
                </a:solidFill>
                <a:latin typeface="Aptos Display"/>
              </a:rPr>
              <a:t>l'eau</a:t>
            </a:r>
            <a:endParaRPr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3482" y="2188056"/>
            <a:ext cx="1828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LEFT JOIN </a:t>
            </a:r>
            <a:endParaRPr lang="fr-FR" sz="1200" b="0" dirty="0">
              <a:solidFill>
                <a:srgbClr val="FFFFFF"/>
              </a:solidFill>
              <a:latin typeface="Aptos Display"/>
            </a:endParaRPr>
          </a:p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Pays + Année
% </a:t>
            </a:r>
            <a:r>
              <a:rPr sz="1200" b="0" dirty="0" err="1">
                <a:solidFill>
                  <a:srgbClr val="FFFFFF"/>
                </a:solidFill>
                <a:latin typeface="Aptos Display"/>
              </a:rPr>
              <a:t>basique</a:t>
            </a:r>
            <a:r>
              <a:rPr sz="1200" b="0" dirty="0">
                <a:solidFill>
                  <a:srgbClr val="FFFFFF"/>
                </a:solidFill>
                <a:latin typeface="Aptos Display"/>
              </a:rPr>
              <a:t> &amp; </a:t>
            </a:r>
            <a:r>
              <a:rPr sz="1200" b="0" dirty="0" err="1">
                <a:solidFill>
                  <a:srgbClr val="FFFFFF"/>
                </a:solidFill>
                <a:latin typeface="Aptos Display"/>
              </a:rPr>
              <a:t>sécurisé</a:t>
            </a:r>
            <a:endParaRPr sz="1200" b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92328" y="2155213"/>
            <a:ext cx="319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3452" y="1695742"/>
            <a:ext cx="1932077" cy="136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7241425" y="1791729"/>
            <a:ext cx="167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 Display"/>
              </a:rPr>
              <a:t>+ </a:t>
            </a:r>
            <a:r>
              <a:rPr b="1" dirty="0" err="1">
                <a:solidFill>
                  <a:srgbClr val="FFFFFF"/>
                </a:solidFill>
                <a:latin typeface="Aptos Display"/>
              </a:rPr>
              <a:t>Stabilité</a:t>
            </a:r>
            <a:endParaRPr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55490" y="2232157"/>
            <a:ext cx="1787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LEFT JOIN </a:t>
            </a:r>
            <a:endParaRPr lang="fr-FR" sz="1200" b="0" dirty="0">
              <a:solidFill>
                <a:srgbClr val="FFFFFF"/>
              </a:solidFill>
              <a:latin typeface="Aptos Display"/>
            </a:endParaRPr>
          </a:p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Pays + Année
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5566" y="2176491"/>
            <a:ext cx="319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34637" y="1701706"/>
            <a:ext cx="1932077" cy="13680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0893" y="1750567"/>
            <a:ext cx="167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 Display"/>
              </a:rPr>
              <a:t>+ </a:t>
            </a:r>
            <a:r>
              <a:rPr b="1" dirty="0" err="1">
                <a:solidFill>
                  <a:srgbClr val="FFFFFF"/>
                </a:solidFill>
                <a:latin typeface="Aptos Display"/>
              </a:rPr>
              <a:t>Mortalité</a:t>
            </a:r>
            <a:endParaRPr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40893" y="2182567"/>
            <a:ext cx="1676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LEFT JOIN</a:t>
            </a:r>
            <a:endParaRPr lang="fr-FR" sz="1200" b="0" dirty="0">
              <a:solidFill>
                <a:srgbClr val="FFFFFF"/>
              </a:solidFill>
              <a:latin typeface="Aptos Display"/>
            </a:endParaRPr>
          </a:p>
          <a:p>
            <a:pPr algn="ctr"/>
            <a:r>
              <a:rPr sz="1200" b="0" dirty="0">
                <a:solidFill>
                  <a:srgbClr val="FFFFFF"/>
                </a:solidFill>
                <a:latin typeface="Aptos Display"/>
              </a:rPr>
              <a:t> Pays
2016 </a:t>
            </a:r>
            <a:r>
              <a:rPr sz="1200" b="0" dirty="0" err="1">
                <a:solidFill>
                  <a:srgbClr val="FFFFFF"/>
                </a:solidFill>
                <a:latin typeface="Aptos Display"/>
              </a:rPr>
              <a:t>seulement</a:t>
            </a:r>
            <a:endParaRPr sz="1200" b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5531" y="3657712"/>
            <a:ext cx="1061566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1A5276"/>
                </a:solidFill>
                <a:latin typeface="Aptos Display"/>
              </a:rPr>
              <a:t>dwfa_consolide.csv — table </a:t>
            </a:r>
            <a:r>
              <a:rPr sz="2400" b="1" dirty="0" err="1">
                <a:solidFill>
                  <a:srgbClr val="1A5276"/>
                </a:solidFill>
                <a:latin typeface="Aptos Display"/>
              </a:rPr>
              <a:t>principale</a:t>
            </a:r>
            <a:endParaRPr sz="2400" b="1" dirty="0">
              <a:solidFill>
                <a:srgbClr val="1A5276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3 492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lignes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· 13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colonnes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· 0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doublon</a:t>
            </a:r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NaN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documentés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: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accès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sécurisé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50 % ·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mortalité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94,8 % (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une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seule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année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2016)</a:t>
            </a:r>
          </a:p>
          <a:p>
            <a:pPr algn="l"/>
            <a:endParaRPr sz="1800" b="0" dirty="0">
              <a:solidFill>
                <a:srgbClr val="1C1C1C"/>
              </a:solidFill>
              <a:latin typeface="Aptos Display"/>
            </a:endParaRPr>
          </a:p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1A5276"/>
                </a:solidFill>
                <a:latin typeface="Aptos Display"/>
              </a:rPr>
              <a:t>dwfa_eau_granulaire.csv — </a:t>
            </a:r>
            <a:r>
              <a:rPr sz="2400" b="1" dirty="0" err="1">
                <a:solidFill>
                  <a:srgbClr val="1A5276"/>
                </a:solidFill>
                <a:latin typeface="Aptos Display"/>
              </a:rPr>
              <a:t>granularités</a:t>
            </a:r>
            <a:r>
              <a:rPr sz="2400" b="1" dirty="0">
                <a:solidFill>
                  <a:srgbClr val="1A5276"/>
                </a:solidFill>
                <a:latin typeface="Aptos Display"/>
              </a:rPr>
              <a:t> Urban / Rural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C1C1C"/>
                </a:solidFill>
                <a:latin typeface="Aptos Display"/>
              </a:rPr>
              <a:t>• 6 984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lignes</a:t>
            </a:r>
            <a:r>
              <a:rPr sz="1800" b="0" dirty="0">
                <a:solidFill>
                  <a:srgbClr val="1C1C1C"/>
                </a:solidFill>
                <a:latin typeface="Aptos Display"/>
              </a:rPr>
              <a:t> · 6 </a:t>
            </a:r>
            <a:r>
              <a:rPr sz="1800" b="0" dirty="0" err="1">
                <a:solidFill>
                  <a:srgbClr val="1C1C1C"/>
                </a:solidFill>
                <a:latin typeface="Aptos Display"/>
              </a:rPr>
              <a:t>colonnes</a:t>
            </a:r>
            <a:endParaRPr sz="1800" b="0" dirty="0">
              <a:solidFill>
                <a:srgbClr val="1C1C1C"/>
              </a:solidFill>
              <a:latin typeface="Aptos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01200" y="6462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1C1C1C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201128C4-9AA8-04E0-4FB5-6EEF1D480F43}"/>
              </a:ext>
            </a:extLst>
          </p:cNvPr>
          <p:cNvSpPr txBox="1"/>
          <p:nvPr/>
        </p:nvSpPr>
        <p:spPr>
          <a:xfrm>
            <a:off x="6896801" y="2198636"/>
            <a:ext cx="319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1A5276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320</Words>
  <Application>Microsoft Office PowerPoint</Application>
  <PresentationFormat>Personnalisé</PresentationFormat>
  <Paragraphs>86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Aptos Display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Josy Elices-Diez</cp:lastModifiedBy>
  <cp:revision>5</cp:revision>
  <dcterms:created xsi:type="dcterms:W3CDTF">2013-01-27T09:14:16Z</dcterms:created>
  <dcterms:modified xsi:type="dcterms:W3CDTF">2026-05-30T09:40:32Z</dcterms:modified>
  <cp:category/>
</cp:coreProperties>
</file>